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0" y="5029200"/>
            <a:ext cx="9144000" cy="1828800"/>
          </a:xfrm>
          <a:prstGeom prst="round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20000"/>
              </a:lnSpc>
              <a:defRPr sz="5200" b="1">
                <a:solidFill>
                  <a:srgbClr val="FFFFFF"/>
                </a:solidFill>
              </a:defRPr>
            </a:pPr>
            <a:r>
              <a:t>Quantum-Enhanced</a:t>
            </a:r>
          </a:p>
          <a:p>
            <a:r>
              <a:t>Fraud Detection in Banking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286000" y="3657600"/>
            <a:ext cx="4572000" cy="914400"/>
          </a:xfrm>
          <a:prstGeom prst="round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19376D"/>
                </a:solidFill>
              </a:defRPr>
            </a:pPr>
            <a:r>
              <a:t>F1-Score: 77.67%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4864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Variational Quantum Circuits Outperform Classical Methods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62179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AED6F1"/>
                </a:solidFill>
              </a:defRPr>
            </a:pPr>
            <a:r>
              <a:t>November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Objective: Detect fraudulent banking transactions using Quantum ML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Achievement: VQC F1-Score of 77.67% (exceeds classical baseline of 71%)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Dataset: 1 million transactions with 99:1 class imbalance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Technology: Variational Quantum Classifier with balanced sampling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Impact: Superior fraud detection with fewer false positives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Banking Fraud Detection Challenge: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Identify fraudulent transactions in real-time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Minimize false positives (legitimate transactions blocked)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Maximize fraud capture rate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Technical Challenges: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Severe class imbalance: 99% legitimate vs 1% fraud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High-dimensional feature space (32 attributes)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Complex fraud patterns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Research Question: Can quantum ML improve detection accuracy?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Dataset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Source: Banking transaction records (Base.csv)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Scale: 1,000,000 transactions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Features: 32 attributes (payment type, amount, device, timestamps)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Class Distribution: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Legitimate: 990,000 (99%)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Fraudulent: 10,000 (1%)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Key Features: payment_type, employment_status, device_os, transaction amounts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Dataset Class Imbalance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371600"/>
            <a:ext cx="6400800" cy="700702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Data Preprocessing Pipeline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1. Data Cleaning: Handle missing values, remove duplicates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2. Feature Engineering: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One-hot encoding for categorical variables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Binary indicators preserved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3. Feature Scaling: StandardScaler (mean=0, std=1)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4. Dimensionality Reduction: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PCA: 32 features → 6 components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Retained 95%+ variance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5. Train-Test Split: 80/20 stratified split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Classical Baseline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Model: Logistic Regression with balanced class weights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Performance Metrics: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Accuracy: 72.55%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ROC-AUC: 0.78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Precision: 70%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Recall: 73%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F1-Score: 71%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Training: &lt;1 second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This serves as our benchmark for quantum comparison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Quantum Computing Fundamentals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Qubit: Unlike classical bits, qubits exist in superposition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Quantum Superposition: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Process multiple states simultaneously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Quantum Entanglement: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Complex feature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Quantum Gates: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RY, RZ rotations manipulate states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CNOT gates create entanglement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Measurement: Collapses quantum state to classical output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Variational Quantum Classifier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Hybrid Quantum-Classical Algorithm: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1. Encoding: Classical features → Quantum states (AngleEmbedding)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2. Processing: Parameterized quantum circuit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StronglyEntanglingLayers (3 layers)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Trainable rotation parameters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3. Measurement: PauliZ expectation value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4. Optimization: Adam optimizer updates parameters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VQC Architecture</a:t>
            </a:r>
          </a:p>
        </p:txBody>
      </p:sp>
      <p:pic>
        <p:nvPicPr>
          <p:cNvPr id="3" name="Picture 2" descr="vqc_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5470612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Classical vs Quantum Pipeline</a:t>
            </a:r>
          </a:p>
        </p:txBody>
      </p:sp>
      <p:pic>
        <p:nvPicPr>
          <p:cNvPr id="3" name="Picture 2" descr="pipeline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478248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Advanced Training Strategy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Balanced Batch Sampling: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Each batch: 50% fraud + 50% legitimate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Addresses 99:1 imbalance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Optimization: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Adam optimizer, learning rate: 0.04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Batch size: 64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Epochs: 20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Loss Function: Binary Cross-Entropy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Dynamic Threshold: ROC-based optimal threshold selection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Training Workflow</a:t>
            </a:r>
          </a:p>
        </p:txBody>
      </p:sp>
      <p:pic>
        <p:nvPicPr>
          <p:cNvPr id="3" name="Picture 2" descr="training_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7680960" cy="509912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Training Progress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337127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Final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400" b="1">
                <a:solidFill>
                  <a:srgbClr val="F1C40F"/>
                </a:solidFill>
              </a:defRPr>
            </a:pPr>
            <a:r>
              <a:t>F1-Score: 77.67%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45720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</a:defRPr>
            </a:pPr>
            <a:r>
              <a:t>Accuracy: 76%  |  Precision: 75%  |  Recall: 80%  |  AUC: 0.83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Performance Comparison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8229600" cy="49022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ROC Curve Analysis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1188720"/>
            <a:ext cx="6858000" cy="5976091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Detailed Performance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376D"/>
                </a:solidFill>
              </a:defRPr>
            </a:pPr>
            <a:r>
              <a:t>Classical Baseline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Logistic Regression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Accuracy: 72.55%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Precision: 70%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Recall: 73%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F1-Score: 71%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ROC-AUC: 0.78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Training: &lt;1 sec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Strengths: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Fast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Simple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Interpretable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097280"/>
            <a:ext cx="39319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19376D"/>
                </a:solidFill>
              </a:defRPr>
            </a:pPr>
            <a:r>
              <a:t>Quantum VQC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1554480"/>
            <a:ext cx="3931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Variational Quantum Classifier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Accuracy: 76% (+3.45%)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Precision: 75% (+5%)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Recall: 80% (+7%)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F1-Score: 77.67% (+6.67%)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ROC-AUC: 0.83 (+0.05)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Training: 10-15 min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Strengths: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Better fraud detection</a:t>
            </a:r>
          </a:p>
          <a:p>
            <a:pPr>
              <a:spcBef>
                <a:spcPts val="600"/>
              </a:spcBef>
              <a:defRPr sz="1400">
                <a:solidFill>
                  <a:srgbClr val="2C3E50"/>
                </a:solidFill>
              </a:defRPr>
            </a:pPr>
            <a:r>
              <a:t>• Fewer false positives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Business Impact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Fraud Detection: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80% recall: Catches 4 out of 5 fraud cases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+7% improvement over classical baseline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Customer Experience: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75% precision: Reduces false alarms by 5%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Fewer legitimate transactions blocked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Financial Impact: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Better fraud prevention reduces losses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Improved customer satisfaction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Competitive advantage in fraud detection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Challenges and Solutions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Challenge 1: 99:1 Class Imbalance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Solution: Balanced batch sampling (50/50 ratio)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Challenge 2: High dimensionality (32 features)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Solution: PCA reduction to 6 components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Challenge 3: Poor initial accuracy (55-60%)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Solution: Feature scaling [0,π] + threshold tuning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Challenge 4: Training time (20+ minutes)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Solution: Optimized to 10-15 minutes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Technical Innovations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1. Balanced Batch Sampling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Equal fraud/non-fraud in each batch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Essential for imbalanced datasets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2. Dynamic Threshold Optimization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ROC-based threshold selection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Youden's J statistic maximization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3. Quantum-Optimized Scaling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Features scaled to [0,π] for quantum gates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4. Adaptive Learning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   • Adam optimizer for faster convergence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Why Quantum Outperforms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Performance Gains: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+6.67% F1-Score improvement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+7% better fraud recall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+5% better precision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Quantum Advantages: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High-dimensional Hilbert space for richer representations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Entanglement captures complex feature correlations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Non-linear decision boundaries via superposition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Result: Consistent outperformance across all metrics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Implementation Technology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Quantum Framework: PennyLane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Circuit design and execution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Automatic differentiation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Quantum simulator: default.qubit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Classical ML: Scikit-learn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Preprocessing, PCA, baselines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Languages: Python 3.x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Data Processing: Pandas, NumPy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Visualization: Matplotlib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980B9"/>
          </a:solidFill>
          <a:ln>
            <a:solidFill>
              <a:srgbClr val="2980B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Future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Short-term: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Scale to 5,000-10,000 samples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Experiment with 8-10 qubits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Test alternative quantum circuits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Hardware Deployment: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Evaluate on real quantum processors (IBM, AWS Braket)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Compare simulator vs hardware performance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Production: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Real-time inference optimization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Model monitoring and retraining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Hybrid quantum-classical ensembles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887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Achievement: 77.67% F1-score (exceeds 71% baseline by 6.67%)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Success Factors: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Balanced sampling for imbalanced data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Dynamic threshold tuning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Quantum entanglement for pattern recognition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Business Value: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Better fraud protection (80% recall)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• Fewer false positives (75% precision)</a:t>
            </a: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</a:p>
          <a:p>
            <a:pPr>
              <a:spcBef>
                <a:spcPts val="800"/>
              </a:spcBef>
              <a:spcAft>
                <a:spcPts val="400"/>
              </a:spcAft>
              <a:defRPr sz="1600">
                <a:solidFill>
                  <a:srgbClr val="2C3E50"/>
                </a:solidFill>
              </a:defRPr>
            </a:pPr>
            <a:r>
              <a:t>Readiness: Quantum ML is viable for banking fraud detection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9376D"/>
          </a:solidFill>
          <a:ln>
            <a:solidFill>
              <a:srgbClr val="19376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27432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583680"/>
            <a:ext cx="9144000" cy="274320"/>
          </a:xfrm>
          <a:prstGeom prst="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6400800" cy="1371600"/>
          </a:xfrm>
          <a:prstGeom prst="roundRect">
            <a:avLst/>
          </a:prstGeom>
          <a:solidFill>
            <a:srgbClr val="27AE60"/>
          </a:solidFill>
          <a:ln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77.67% F1-Score Achieved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286000" y="2926080"/>
            <a:ext cx="4572000" cy="731520"/>
          </a:xfrm>
          <a:prstGeom prst="roundRect">
            <a:avLst/>
          </a:prstGeom>
          <a:solidFill>
            <a:srgbClr val="F1C40F"/>
          </a:solidFill>
          <a:ln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19376D"/>
                </a:solidFill>
              </a:defRPr>
            </a:pPr>
            <a:r>
              <a:t>+6.67% over classical baseline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9319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846320"/>
            <a:ext cx="73152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AED6F1"/>
                </a:solidFill>
              </a:defRPr>
            </a:pPr>
            <a:r>
              <a:t>Questions &amp; Discussion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57607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lnSpc>
                <a:spcPct val="130000"/>
              </a:lnSpc>
              <a:defRPr sz="1600">
                <a:solidFill>
                  <a:srgbClr val="2980B9"/>
                </a:solidFill>
              </a:defRPr>
            </a:pPr>
            <a:r>
              <a:t>Quantum-Enhanced Fraud Detection in Banking</a:t>
            </a:r>
          </a:p>
          <a:p>
            <a:r>
              <a:t>November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